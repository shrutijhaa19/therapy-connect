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0" r:id="rId7"/>
    <p:sldId id="261" r:id="rId8"/>
    <p:sldId id="262" r:id="rId9"/>
    <p:sldId id="269" r:id="rId10"/>
    <p:sldId id="263" r:id="rId11"/>
    <p:sldId id="270"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formative.jmir.org/2025/1/e71923?utm_source=chatgpt.com" TargetMode="External"/><Relationship Id="rId2" Type="http://schemas.openxmlformats.org/officeDocument/2006/relationships/hyperlink" Target="https://www.ncbi.nlm.nih.gov/pmc/articles/PMC10877489/" TargetMode="External"/><Relationship Id="rId1" Type="http://schemas.openxmlformats.org/officeDocument/2006/relationships/slideLayout" Target="../slideLayouts/slideLayout2.xml"/><Relationship Id="rId5" Type="http://schemas.openxmlformats.org/officeDocument/2006/relationships/hyperlink" Target="https://timesofindia.indiatimes.com/city/nagpur/for-students-mental-health-cbse-pushestele-manas-scheme/articleshow/123551705.cms" TargetMode="External"/><Relationship Id="rId4" Type="http://schemas.openxmlformats.org/officeDocument/2006/relationships/hyperlink" Target="https://www.sciencedirect.com/science/article/pii/S2214782921001330?utm_source=chatgpt.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a:t>THERAPY CONNECT</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SHRUTI KUMARI</a:t>
            </a:r>
          </a:p>
          <a:p>
            <a:r>
              <a:rPr lang="en-IN" dirty="0"/>
              <a:t>2427010237</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Onkar Singh</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pPr algn="ctr"/>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marL="514350" indent="-514350">
              <a:buFont typeface="+mj-lt"/>
              <a:buAutoNum type="arabicPeriod"/>
            </a:pPr>
            <a:r>
              <a:rPr lang="en-IN" dirty="0"/>
              <a:t>Introduction</a:t>
            </a:r>
          </a:p>
          <a:p>
            <a:pPr marL="514350" indent="-514350" algn="just">
              <a:buFont typeface="+mj-lt"/>
              <a:buAutoNum type="arabicPeriod"/>
            </a:pPr>
            <a:r>
              <a:rPr lang="en-IN" dirty="0"/>
              <a:t>Literature Review</a:t>
            </a:r>
          </a:p>
          <a:p>
            <a:pPr marL="514350" indent="-514350" algn="just">
              <a:buFont typeface="+mj-lt"/>
              <a:buAutoNum type="arabicPeriod"/>
            </a:pPr>
            <a:r>
              <a:rPr lang="en-IN" dirty="0"/>
              <a:t>Problem Statement</a:t>
            </a:r>
          </a:p>
          <a:p>
            <a:pPr marL="514350" indent="-514350">
              <a:buFont typeface="+mj-lt"/>
              <a:buAutoNum type="arabicPeriod"/>
            </a:pPr>
            <a:r>
              <a:rPr lang="en-IN" dirty="0"/>
              <a:t>Proposed Solution</a:t>
            </a:r>
          </a:p>
          <a:p>
            <a:pPr marL="514350" indent="-514350">
              <a:buFont typeface="+mj-lt"/>
              <a:buAutoNum type="arabicPeriod"/>
            </a:pPr>
            <a:r>
              <a:rPr lang="en-IN" dirty="0"/>
              <a:t>Objectives</a:t>
            </a:r>
          </a:p>
          <a:p>
            <a:pPr>
              <a:buFont typeface="Wingdings" panose="05000000000000000000" pitchFamily="2" charset="2"/>
              <a:buChar char="v"/>
            </a:pPr>
            <a:endParaRPr lang="en-IN" dirty="0"/>
          </a:p>
        </p:txBody>
      </p:sp>
      <p:cxnSp>
        <p:nvCxnSpPr>
          <p:cNvPr id="5" name="Straight Connector 4">
            <a:extLst>
              <a:ext uri="{FF2B5EF4-FFF2-40B4-BE49-F238E27FC236}">
                <a16:creationId xmlns:a16="http://schemas.microsoft.com/office/drawing/2014/main" id="{9AFB5864-55BB-D20A-4101-D4C360A540E4}"/>
              </a:ext>
            </a:extLst>
          </p:cNvPr>
          <p:cNvCxnSpPr/>
          <p:nvPr/>
        </p:nvCxnSpPr>
        <p:spPr>
          <a:xfrm>
            <a:off x="0" y="1408176"/>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pPr algn="ctr"/>
            <a:r>
              <a:rPr lang="en-IN" dirty="0"/>
              <a:t>Introduction</a:t>
            </a:r>
          </a:p>
        </p:txBody>
      </p:sp>
      <p:sp>
        <p:nvSpPr>
          <p:cNvPr id="5" name="Rectangle 2">
            <a:extLst>
              <a:ext uri="{FF2B5EF4-FFF2-40B4-BE49-F238E27FC236}">
                <a16:creationId xmlns:a16="http://schemas.microsoft.com/office/drawing/2014/main" id="{EBB5A222-BE34-E689-015F-DC90E4EEE431}"/>
              </a:ext>
            </a:extLst>
          </p:cNvPr>
          <p:cNvSpPr>
            <a:spLocks noGrp="1" noChangeArrowheads="1"/>
          </p:cNvSpPr>
          <p:nvPr>
            <p:ph idx="1"/>
          </p:nvPr>
        </p:nvSpPr>
        <p:spPr bwMode="auto">
          <a:xfrm>
            <a:off x="454406" y="2267745"/>
            <a:ext cx="1132306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Students’ mental and emotional wellbeing is a growing global concern due to </a:t>
            </a:r>
            <a:r>
              <a:rPr kumimoji="0" lang="en-US" altLang="en-US" sz="1800" b="1" i="0" u="none" strike="noStrike" cap="none" normalizeH="0" baseline="0" dirty="0">
                <a:ln>
                  <a:noFill/>
                </a:ln>
                <a:solidFill>
                  <a:schemeClr val="tx1"/>
                </a:solidFill>
                <a:effectLst/>
                <a:latin typeface="Arial" panose="020B0604020202020204" pitchFamily="34" charset="0"/>
              </a:rPr>
              <a:t>academic pressure, social competition, and family expectations</a:t>
            </a:r>
            <a:r>
              <a:rPr kumimoji="0" lang="en-US" altLang="en-US" sz="1800" b="0" i="0" u="none" strike="noStrike" cap="none" normalizeH="0" baseline="0" dirty="0">
                <a:ln>
                  <a:noFill/>
                </a:ln>
                <a:solidFill>
                  <a:schemeClr val="tx1"/>
                </a:solidFill>
                <a:effectLst/>
                <a:latin typeface="Arial" panose="020B0604020202020204" pitchFamily="34" charset="0"/>
              </a:rPr>
              <a:t>, leading to stress, anxiety, and depression.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transition from adolescence to adulthood</a:t>
            </a:r>
            <a:r>
              <a:rPr kumimoji="0" lang="en-US" altLang="en-US" sz="1800" b="0" i="0" u="none" strike="noStrike" cap="none" normalizeH="0" baseline="0" dirty="0">
                <a:ln>
                  <a:noFill/>
                </a:ln>
                <a:solidFill>
                  <a:schemeClr val="tx1"/>
                </a:solidFill>
                <a:effectLst/>
                <a:latin typeface="Arial" panose="020B0604020202020204" pitchFamily="34" charset="0"/>
              </a:rPr>
              <a:t> often causes emotional exhaustion and low self-esteem.</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lang="en-US" altLang="en-US" sz="1800"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Therapy welfare programs</a:t>
            </a:r>
            <a:r>
              <a:rPr kumimoji="0" lang="en-US" altLang="en-US" sz="1800" b="0" i="0" u="none" strike="noStrike" cap="none" normalizeH="0" baseline="0" dirty="0">
                <a:ln>
                  <a:noFill/>
                </a:ln>
                <a:solidFill>
                  <a:schemeClr val="tx1"/>
                </a:solidFill>
                <a:effectLst/>
                <a:latin typeface="Arial" panose="020B0604020202020204" pitchFamily="34" charset="0"/>
              </a:rPr>
              <a:t> in schools and colleges provide structured mental health support, including counseling, peer support, mindfulness sessions, and digital tools.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Therapy helps students </a:t>
            </a:r>
            <a:r>
              <a:rPr kumimoji="0" lang="en-US" altLang="en-US" sz="1800" b="1" i="0" u="none" strike="noStrike" cap="none" normalizeH="0" baseline="0" dirty="0">
                <a:ln>
                  <a:noFill/>
                </a:ln>
                <a:solidFill>
                  <a:schemeClr val="tx1"/>
                </a:solidFill>
                <a:effectLst/>
                <a:latin typeface="Arial" panose="020B0604020202020204" pitchFamily="34" charset="0"/>
              </a:rPr>
              <a:t>understand emotions, develop coping skills, and improve focus and confidence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With increasing awareness, </a:t>
            </a:r>
            <a:r>
              <a:rPr kumimoji="0" lang="en-US" altLang="en-US" sz="1800" b="1" i="0" u="none" strike="noStrike" cap="none" normalizeH="0" baseline="0" dirty="0">
                <a:ln>
                  <a:noFill/>
                </a:ln>
                <a:solidFill>
                  <a:schemeClr val="tx1"/>
                </a:solidFill>
                <a:effectLst/>
                <a:latin typeface="Arial" panose="020B0604020202020204" pitchFamily="34" charset="0"/>
              </a:rPr>
              <a:t>AI and online counseling platforms</a:t>
            </a:r>
            <a:r>
              <a:rPr kumimoji="0" lang="en-US" altLang="en-US" sz="1800" b="0" i="0" u="none" strike="noStrike" cap="none" normalizeH="0" baseline="0" dirty="0">
                <a:ln>
                  <a:noFill/>
                </a:ln>
                <a:solidFill>
                  <a:schemeClr val="tx1"/>
                </a:solidFill>
                <a:effectLst/>
                <a:latin typeface="Arial" panose="020B0604020202020204" pitchFamily="34" charset="0"/>
              </a:rPr>
              <a:t> make therapy more accessible, affordable, and stigma-free, encouraging wider participation.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3A98FF7-1461-81D5-3106-AD8B4A4A7925}"/>
              </a:ext>
            </a:extLst>
          </p:cNvPr>
          <p:cNvCxnSpPr>
            <a:cxnSpLocks/>
          </p:cNvCxnSpPr>
          <p:nvPr/>
        </p:nvCxnSpPr>
        <p:spPr>
          <a:xfrm>
            <a:off x="0" y="1435608"/>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249936" y="832106"/>
            <a:ext cx="11103864" cy="1508755"/>
          </a:xfrm>
        </p:spPr>
        <p:txBody>
          <a:bodyPr>
            <a:normAutofit fontScale="90000"/>
          </a:bodyPr>
          <a:lstStyle/>
          <a:p>
            <a:r>
              <a:rPr lang="en-IN" dirty="0"/>
              <a:t>                                   Literature Review I</a:t>
            </a:r>
            <a:br>
              <a:rPr lang="en-IN" dirty="0"/>
            </a:br>
            <a:r>
              <a:rPr lang="en-US" sz="2200" dirty="0"/>
              <a:t>This table shows that online therapy for students reduces stress and anxiety but faces challenges like engagement, tech barriers, and limits for severe cases.</a:t>
            </a:r>
            <a:br>
              <a:rPr lang="en-IN" sz="2200" dirty="0"/>
            </a:br>
            <a:endParaRPr lang="en-IN" sz="2200" dirty="0"/>
          </a:p>
        </p:txBody>
      </p:sp>
      <p:cxnSp>
        <p:nvCxnSpPr>
          <p:cNvPr id="6" name="Straight Connector 5">
            <a:extLst>
              <a:ext uri="{FF2B5EF4-FFF2-40B4-BE49-F238E27FC236}">
                <a16:creationId xmlns:a16="http://schemas.microsoft.com/office/drawing/2014/main" id="{E7F3D32B-E573-7EFF-1EF2-9D0D36AA781F}"/>
              </a:ext>
            </a:extLst>
          </p:cNvPr>
          <p:cNvCxnSpPr>
            <a:cxnSpLocks/>
          </p:cNvCxnSpPr>
          <p:nvPr/>
        </p:nvCxnSpPr>
        <p:spPr>
          <a:xfrm>
            <a:off x="0" y="1353312"/>
            <a:ext cx="12192000"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10" name="Content Placeholder 9">
            <a:extLst>
              <a:ext uri="{FF2B5EF4-FFF2-40B4-BE49-F238E27FC236}">
                <a16:creationId xmlns:a16="http://schemas.microsoft.com/office/drawing/2014/main" id="{0527BEEF-07C8-A137-C43B-B7D264FDB979}"/>
              </a:ext>
            </a:extLst>
          </p:cNvPr>
          <p:cNvGraphicFramePr>
            <a:graphicFrameLocks noGrp="1"/>
          </p:cNvGraphicFramePr>
          <p:nvPr>
            <p:ph idx="1"/>
            <p:extLst>
              <p:ext uri="{D42A27DB-BD31-4B8C-83A1-F6EECF244321}">
                <p14:modId xmlns:p14="http://schemas.microsoft.com/office/powerpoint/2010/main" val="2063428012"/>
              </p:ext>
            </p:extLst>
          </p:nvPr>
        </p:nvGraphicFramePr>
        <p:xfrm>
          <a:off x="329184" y="2121410"/>
          <a:ext cx="11612880" cy="4708981"/>
        </p:xfrm>
        <a:graphic>
          <a:graphicData uri="http://schemas.openxmlformats.org/drawingml/2006/table">
            <a:tbl>
              <a:tblPr firstRow="1" bandRow="1">
                <a:tableStyleId>{5C22544A-7EE6-4342-B048-85BDC9FD1C3A}</a:tableStyleId>
              </a:tblPr>
              <a:tblGrid>
                <a:gridCol w="2903220">
                  <a:extLst>
                    <a:ext uri="{9D8B030D-6E8A-4147-A177-3AD203B41FA5}">
                      <a16:colId xmlns:a16="http://schemas.microsoft.com/office/drawing/2014/main" val="4264313482"/>
                    </a:ext>
                  </a:extLst>
                </a:gridCol>
                <a:gridCol w="2903220">
                  <a:extLst>
                    <a:ext uri="{9D8B030D-6E8A-4147-A177-3AD203B41FA5}">
                      <a16:colId xmlns:a16="http://schemas.microsoft.com/office/drawing/2014/main" val="2673783420"/>
                    </a:ext>
                  </a:extLst>
                </a:gridCol>
                <a:gridCol w="2903220">
                  <a:extLst>
                    <a:ext uri="{9D8B030D-6E8A-4147-A177-3AD203B41FA5}">
                      <a16:colId xmlns:a16="http://schemas.microsoft.com/office/drawing/2014/main" val="3879949144"/>
                    </a:ext>
                  </a:extLst>
                </a:gridCol>
                <a:gridCol w="2903220">
                  <a:extLst>
                    <a:ext uri="{9D8B030D-6E8A-4147-A177-3AD203B41FA5}">
                      <a16:colId xmlns:a16="http://schemas.microsoft.com/office/drawing/2014/main" val="1339520852"/>
                    </a:ext>
                  </a:extLst>
                </a:gridCol>
              </a:tblGrid>
              <a:tr h="685621">
                <a:tc>
                  <a:txBody>
                    <a:bodyPr/>
                    <a:lstStyle/>
                    <a:p>
                      <a:pPr>
                        <a:buNone/>
                      </a:pPr>
                      <a:r>
                        <a:rPr lang="en-IN" b="1" dirty="0"/>
                        <a:t>Author &amp; Year </a:t>
                      </a:r>
                      <a:endParaRPr lang="en-IN" dirty="0"/>
                    </a:p>
                  </a:txBody>
                  <a:tcPr anchor="ctr"/>
                </a:tc>
                <a:tc>
                  <a:txBody>
                    <a:bodyPr/>
                    <a:lstStyle/>
                    <a:p>
                      <a:pPr>
                        <a:buNone/>
                      </a:pPr>
                      <a:r>
                        <a:rPr lang="en-IN" b="1"/>
                        <a:t>Method Used</a:t>
                      </a:r>
                      <a:endParaRPr lang="en-IN"/>
                    </a:p>
                  </a:txBody>
                  <a:tcPr anchor="ctr"/>
                </a:tc>
                <a:tc>
                  <a:txBody>
                    <a:bodyPr/>
                    <a:lstStyle/>
                    <a:p>
                      <a:pPr>
                        <a:buNone/>
                      </a:pPr>
                      <a:r>
                        <a:rPr lang="en-IN" b="1"/>
                        <a:t>Focus Area</a:t>
                      </a:r>
                      <a:endParaRPr lang="en-IN"/>
                    </a:p>
                  </a:txBody>
                  <a:tcPr anchor="ctr"/>
                </a:tc>
                <a:tc>
                  <a:txBody>
                    <a:bodyPr/>
                    <a:lstStyle/>
                    <a:p>
                      <a:pPr>
                        <a:buNone/>
                      </a:pPr>
                      <a:r>
                        <a:rPr lang="en-IN" b="1" dirty="0"/>
                        <a:t>Limitations</a:t>
                      </a:r>
                      <a:endParaRPr lang="en-IN" dirty="0"/>
                    </a:p>
                  </a:txBody>
                  <a:tcPr anchor="ctr"/>
                </a:tc>
                <a:extLst>
                  <a:ext uri="{0D108BD9-81ED-4DB2-BD59-A6C34878D82A}">
                    <a16:rowId xmlns:a16="http://schemas.microsoft.com/office/drawing/2014/main" val="3513202176"/>
                  </a:ext>
                </a:extLst>
              </a:tr>
              <a:tr h="1064688">
                <a:tc>
                  <a:txBody>
                    <a:bodyPr/>
                    <a:lstStyle/>
                    <a:p>
                      <a:pPr algn="l">
                        <a:buNone/>
                      </a:pPr>
                      <a:r>
                        <a:rPr lang="en-IN" sz="1600" dirty="0"/>
                        <a:t>  Andersson, 2018</a:t>
                      </a:r>
                    </a:p>
                  </a:txBody>
                  <a:tcPr anchor="ctr"/>
                </a:tc>
                <a:tc>
                  <a:txBody>
                    <a:bodyPr/>
                    <a:lstStyle/>
                    <a:p>
                      <a:pPr>
                        <a:buNone/>
                      </a:pPr>
                      <a:r>
                        <a:rPr lang="en-IN" sz="1600" dirty="0"/>
                        <a:t>Randomized Controlled Trial (RCT)</a:t>
                      </a:r>
                    </a:p>
                  </a:txBody>
                  <a:tcPr anchor="ctr"/>
                </a:tc>
                <a:tc>
                  <a:txBody>
                    <a:bodyPr/>
                    <a:lstStyle/>
                    <a:p>
                      <a:r>
                        <a:rPr lang="en-US" sz="1600" dirty="0"/>
                        <a:t>Internet-based Cognitive Behavioral Therapy (</a:t>
                      </a:r>
                      <a:r>
                        <a:rPr lang="en-US" sz="1600" dirty="0" err="1"/>
                        <a:t>iCBT</a:t>
                      </a:r>
                      <a:r>
                        <a:rPr lang="en-US" sz="1600" dirty="0"/>
                        <a:t>) for student anxiety and depression</a:t>
                      </a:r>
                      <a:endParaRPr lang="en-IN" sz="1600" dirty="0"/>
                    </a:p>
                  </a:txBody>
                  <a:tcPr/>
                </a:tc>
                <a:tc>
                  <a:txBody>
                    <a:bodyPr/>
                    <a:lstStyle/>
                    <a:p>
                      <a:r>
                        <a:rPr lang="en-US" sz="1600" dirty="0"/>
                        <a:t>Limited long-term follow-up; requires internet access; adherence issues in self-guided format</a:t>
                      </a:r>
                      <a:endParaRPr lang="en-IN" sz="1600" dirty="0"/>
                    </a:p>
                  </a:txBody>
                  <a:tcPr/>
                </a:tc>
                <a:extLst>
                  <a:ext uri="{0D108BD9-81ED-4DB2-BD59-A6C34878D82A}">
                    <a16:rowId xmlns:a16="http://schemas.microsoft.com/office/drawing/2014/main" val="3744143081"/>
                  </a:ext>
                </a:extLst>
              </a:tr>
              <a:tr h="821331">
                <a:tc>
                  <a:txBody>
                    <a:bodyPr/>
                    <a:lstStyle/>
                    <a:p>
                      <a:r>
                        <a:rPr lang="en-IN" sz="1600" dirty="0"/>
                        <a:t>  </a:t>
                      </a:r>
                    </a:p>
                    <a:p>
                      <a:r>
                        <a:rPr lang="en-IN" sz="1600" dirty="0"/>
                        <a:t>  Reynolds et al., 2020</a:t>
                      </a:r>
                    </a:p>
                  </a:txBody>
                  <a:tcPr/>
                </a:tc>
                <a:tc>
                  <a:txBody>
                    <a:bodyPr/>
                    <a:lstStyle/>
                    <a:p>
                      <a:pPr>
                        <a:buNone/>
                      </a:pPr>
                      <a:r>
                        <a:rPr lang="en-IN" sz="1600" dirty="0"/>
                        <a:t>Teletherapy</a:t>
                      </a:r>
                      <a:r>
                        <a:rPr lang="en-IN" dirty="0"/>
                        <a:t> </a:t>
                      </a:r>
                      <a:r>
                        <a:rPr lang="en-IN" sz="1600" dirty="0"/>
                        <a:t>evaluation</a:t>
                      </a:r>
                    </a:p>
                  </a:txBody>
                  <a:tcPr anchor="ctr"/>
                </a:tc>
                <a:tc>
                  <a:txBody>
                    <a:bodyPr/>
                    <a:lstStyle/>
                    <a:p>
                      <a:r>
                        <a:rPr lang="en-US" sz="1600" dirty="0"/>
                        <a:t>Video/phone counseling for university students</a:t>
                      </a:r>
                      <a:endParaRPr lang="en-IN" sz="1600" dirty="0"/>
                    </a:p>
                  </a:txBody>
                  <a:tcPr/>
                </a:tc>
                <a:tc>
                  <a:txBody>
                    <a:bodyPr/>
                    <a:lstStyle/>
                    <a:p>
                      <a:r>
                        <a:rPr lang="en-US" sz="1600" dirty="0"/>
                        <a:t>Technological barriers; loss of non-verbal cues; not suitable for high-risk cases</a:t>
                      </a:r>
                      <a:endParaRPr lang="en-IN" sz="1600" dirty="0"/>
                    </a:p>
                  </a:txBody>
                  <a:tcPr/>
                </a:tc>
                <a:extLst>
                  <a:ext uri="{0D108BD9-81ED-4DB2-BD59-A6C34878D82A}">
                    <a16:rowId xmlns:a16="http://schemas.microsoft.com/office/drawing/2014/main" val="3242505705"/>
                  </a:ext>
                </a:extLst>
              </a:tr>
              <a:tr h="1064688">
                <a:tc>
                  <a:txBody>
                    <a:bodyPr/>
                    <a:lstStyle/>
                    <a:p>
                      <a:pPr algn="l"/>
                      <a:r>
                        <a:rPr lang="en-IN" sz="1600" dirty="0"/>
                        <a:t> </a:t>
                      </a:r>
                    </a:p>
                    <a:p>
                      <a:pPr algn="l"/>
                      <a:r>
                        <a:rPr lang="en-IN" sz="1600" dirty="0"/>
                        <a:t>  Fleming et al., 2019</a:t>
                      </a:r>
                    </a:p>
                  </a:txBody>
                  <a:tcPr/>
                </a:tc>
                <a:tc>
                  <a:txBody>
                    <a:bodyPr/>
                    <a:lstStyle/>
                    <a:p>
                      <a:r>
                        <a:rPr lang="en-IN" sz="1600" dirty="0"/>
                        <a:t>Program Evaluation</a:t>
                      </a:r>
                    </a:p>
                  </a:txBody>
                  <a:tcPr/>
                </a:tc>
                <a:tc>
                  <a:txBody>
                    <a:bodyPr/>
                    <a:lstStyle/>
                    <a:p>
                      <a:r>
                        <a:rPr lang="en-US" sz="1600" dirty="0"/>
                        <a:t>Integration of digital therapy platforms in campus counseling</a:t>
                      </a:r>
                      <a:endParaRPr lang="en-IN" sz="1600" dirty="0"/>
                    </a:p>
                  </a:txBody>
                  <a:tcPr/>
                </a:tc>
                <a:tc>
                  <a:txBody>
                    <a:bodyPr/>
                    <a:lstStyle/>
                    <a:p>
                      <a:r>
                        <a:rPr lang="en-US" sz="1600" dirty="0"/>
                        <a:t>Limited long-term effectiveness data; dependent on institutional support and training</a:t>
                      </a:r>
                      <a:endParaRPr lang="en-IN" sz="1600" dirty="0"/>
                    </a:p>
                  </a:txBody>
                  <a:tcPr/>
                </a:tc>
                <a:extLst>
                  <a:ext uri="{0D108BD9-81ED-4DB2-BD59-A6C34878D82A}">
                    <a16:rowId xmlns:a16="http://schemas.microsoft.com/office/drawing/2014/main" val="137640550"/>
                  </a:ext>
                </a:extLst>
              </a:tr>
              <a:tr h="853375">
                <a:tc>
                  <a:txBody>
                    <a:bodyPr/>
                    <a:lstStyle/>
                    <a:p>
                      <a:r>
                        <a:rPr lang="en-IN" sz="1600" dirty="0"/>
                        <a:t>  Farrer et al., 2019</a:t>
                      </a:r>
                    </a:p>
                  </a:txBody>
                  <a:tcPr/>
                </a:tc>
                <a:tc>
                  <a:txBody>
                    <a:bodyPr/>
                    <a:lstStyle/>
                    <a:p>
                      <a:r>
                        <a:rPr lang="en-IN" sz="1600" dirty="0"/>
                        <a:t>Meta-analysis</a:t>
                      </a:r>
                    </a:p>
                  </a:txBody>
                  <a:tcPr/>
                </a:tc>
                <a:tc>
                  <a:txBody>
                    <a:bodyPr/>
                    <a:lstStyle/>
                    <a:p>
                      <a:r>
                        <a:rPr lang="en-US" sz="1600" dirty="0"/>
                        <a:t>Effectiveness of online therapy for young adults</a:t>
                      </a:r>
                      <a:endParaRPr lang="en-IN" sz="1600" dirty="0"/>
                    </a:p>
                  </a:txBody>
                  <a:tcPr/>
                </a:tc>
                <a:tc>
                  <a:txBody>
                    <a:bodyPr/>
                    <a:lstStyle/>
                    <a:p>
                      <a:r>
                        <a:rPr lang="en-US" sz="1600" dirty="0"/>
                        <a:t>Heterogeneity of studies; some studies lack control groups; mostly short-term outcomes</a:t>
                      </a:r>
                      <a:endParaRPr lang="en-IN" sz="1600" dirty="0"/>
                    </a:p>
                  </a:txBody>
                  <a:tcPr/>
                </a:tc>
                <a:extLst>
                  <a:ext uri="{0D108BD9-81ED-4DB2-BD59-A6C34878D82A}">
                    <a16:rowId xmlns:a16="http://schemas.microsoft.com/office/drawing/2014/main" val="1415334213"/>
                  </a:ext>
                </a:extLst>
              </a:tr>
            </a:tbl>
          </a:graphicData>
        </a:graphic>
      </p:graphicFrame>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4CD1-CBF6-9E68-92BD-DB80B12EF07C}"/>
              </a:ext>
            </a:extLst>
          </p:cNvPr>
          <p:cNvSpPr>
            <a:spLocks noGrp="1"/>
          </p:cNvSpPr>
          <p:nvPr>
            <p:ph type="title"/>
          </p:nvPr>
        </p:nvSpPr>
        <p:spPr/>
        <p:txBody>
          <a:bodyPr/>
          <a:lstStyle/>
          <a:p>
            <a:r>
              <a:rPr lang="en-IN" dirty="0"/>
              <a:t>                           Literature Review-II</a:t>
            </a:r>
          </a:p>
        </p:txBody>
      </p:sp>
      <p:sp>
        <p:nvSpPr>
          <p:cNvPr id="3" name="Content Placeholder 2">
            <a:extLst>
              <a:ext uri="{FF2B5EF4-FFF2-40B4-BE49-F238E27FC236}">
                <a16:creationId xmlns:a16="http://schemas.microsoft.com/office/drawing/2014/main" id="{4EF4F14E-5011-D172-EBAD-00F1CD3889A2}"/>
              </a:ext>
            </a:extLst>
          </p:cNvPr>
          <p:cNvSpPr>
            <a:spLocks noGrp="1"/>
          </p:cNvSpPr>
          <p:nvPr>
            <p:ph idx="1"/>
          </p:nvPr>
        </p:nvSpPr>
        <p:spPr/>
        <p:txBody>
          <a:bodyPr>
            <a:normAutofit/>
          </a:bodyPr>
          <a:lstStyle/>
          <a:p>
            <a:pPr marL="457200" indent="-457200" algn="just">
              <a:buFont typeface="+mj-lt"/>
              <a:buAutoNum type="arabicPeriod"/>
            </a:pPr>
            <a:r>
              <a:rPr lang="en-US" sz="1900" dirty="0"/>
              <a:t>Online therapy reduces </a:t>
            </a:r>
            <a:r>
              <a:rPr lang="en-US" sz="1900" b="1" dirty="0"/>
              <a:t>stress, anxiety, and depression</a:t>
            </a:r>
            <a:r>
              <a:rPr lang="en-US" sz="1900" dirty="0"/>
              <a:t> among students.</a:t>
            </a:r>
          </a:p>
          <a:p>
            <a:pPr marL="457200" indent="-457200" algn="just">
              <a:buFont typeface="+mj-lt"/>
              <a:buAutoNum type="arabicPeriod"/>
            </a:pPr>
            <a:r>
              <a:rPr lang="en-US" sz="1900" b="1" dirty="0"/>
              <a:t>Engagement and long-term adherence</a:t>
            </a:r>
            <a:r>
              <a:rPr lang="en-US" sz="1900" dirty="0"/>
              <a:t> remain major challenges.</a:t>
            </a:r>
          </a:p>
          <a:p>
            <a:pPr marL="457200" indent="-457200" algn="just">
              <a:buFont typeface="+mj-lt"/>
              <a:buAutoNum type="arabicPeriod"/>
            </a:pPr>
            <a:r>
              <a:rPr lang="en-US" sz="1900" dirty="0"/>
              <a:t>Students value </a:t>
            </a:r>
            <a:r>
              <a:rPr lang="en-US" sz="1900" b="1" dirty="0"/>
              <a:t>accessibility and flexibility</a:t>
            </a:r>
            <a:r>
              <a:rPr lang="en-US" sz="1900" dirty="0"/>
              <a:t>, but digital therapy can feel </a:t>
            </a:r>
            <a:r>
              <a:rPr lang="en-US" sz="1900" b="1" dirty="0"/>
              <a:t>impersonal</a:t>
            </a:r>
            <a:r>
              <a:rPr lang="en-US" sz="1900" dirty="0"/>
              <a:t>.</a:t>
            </a:r>
          </a:p>
          <a:p>
            <a:pPr marL="457200" indent="-457200" algn="just">
              <a:buFont typeface="+mj-lt"/>
              <a:buAutoNum type="arabicPeriod"/>
            </a:pPr>
            <a:r>
              <a:rPr lang="en-US" sz="1900" b="1" dirty="0"/>
              <a:t>AI chatbots</a:t>
            </a:r>
            <a:r>
              <a:rPr lang="en-US" sz="1900" dirty="0"/>
              <a:t> provide scalable, 24/7 mental health support.</a:t>
            </a:r>
          </a:p>
          <a:p>
            <a:pPr marL="457200" indent="-457200" algn="just">
              <a:buFont typeface="+mj-lt"/>
              <a:buAutoNum type="arabicPeriod"/>
            </a:pPr>
            <a:r>
              <a:rPr lang="en-US" sz="1900" dirty="0"/>
              <a:t>Limitations of chatbots include </a:t>
            </a:r>
            <a:r>
              <a:rPr lang="en-US" sz="1900" b="1" dirty="0"/>
              <a:t>lack of empathy, complex case handling, and misinformation risk</a:t>
            </a:r>
            <a:r>
              <a:rPr lang="en-US" sz="1900" dirty="0"/>
              <a:t>.</a:t>
            </a:r>
          </a:p>
          <a:p>
            <a:pPr marL="457200" indent="-457200" algn="just">
              <a:buFont typeface="+mj-lt"/>
              <a:buAutoNum type="arabicPeriod"/>
            </a:pPr>
            <a:r>
              <a:rPr lang="en-US" sz="1900" b="1" dirty="0"/>
              <a:t>Gamified interventions</a:t>
            </a:r>
            <a:r>
              <a:rPr lang="en-US" sz="1900" dirty="0"/>
              <a:t> increase engagement, motivation, and improve mental wellbeing.</a:t>
            </a:r>
          </a:p>
          <a:p>
            <a:pPr marL="457200" indent="-457200" algn="just">
              <a:buFont typeface="+mj-lt"/>
              <a:buAutoNum type="arabicPeriod"/>
            </a:pPr>
            <a:r>
              <a:rPr lang="en-US" sz="1900" dirty="0"/>
              <a:t>Ethical concerns include </a:t>
            </a:r>
            <a:r>
              <a:rPr lang="en-US" sz="1900" b="1" dirty="0"/>
              <a:t>emotional dependency, privacy, and the need for human oversight</a:t>
            </a:r>
            <a:r>
              <a:rPr lang="en-US" sz="1900" dirty="0"/>
              <a:t>.</a:t>
            </a:r>
          </a:p>
          <a:p>
            <a:pPr marL="0" indent="0">
              <a:buNone/>
            </a:pPr>
            <a:endParaRPr lang="en-IN" dirty="0"/>
          </a:p>
        </p:txBody>
      </p:sp>
      <p:cxnSp>
        <p:nvCxnSpPr>
          <p:cNvPr id="5" name="Straight Connector 4">
            <a:extLst>
              <a:ext uri="{FF2B5EF4-FFF2-40B4-BE49-F238E27FC236}">
                <a16:creationId xmlns:a16="http://schemas.microsoft.com/office/drawing/2014/main" id="{065EE243-56FC-AF95-9567-55B4BBFFCA2C}"/>
              </a:ext>
            </a:extLst>
          </p:cNvPr>
          <p:cNvCxnSpPr/>
          <p:nvPr/>
        </p:nvCxnSpPr>
        <p:spPr>
          <a:xfrm>
            <a:off x="0" y="1344168"/>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5979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pPr algn="ctr"/>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655320" y="2141537"/>
            <a:ext cx="11012424" cy="4351338"/>
          </a:xfrm>
        </p:spPr>
        <p:txBody>
          <a:bodyPr/>
          <a:lstStyle/>
          <a:p>
            <a:pPr marL="0" indent="0">
              <a:buNone/>
            </a:pPr>
            <a:endParaRPr lang="en-US" sz="2000" dirty="0"/>
          </a:p>
          <a:p>
            <a:pPr marL="0" indent="0" algn="just">
              <a:buNone/>
            </a:pPr>
            <a:r>
              <a:rPr lang="en-US" sz="1800" dirty="0"/>
              <a:t>Despite growing awareness of student mental health, many students face stress, anxiety, and depression due to academic pressure, social challenges, and personal issues. Traditional counseling services are often limited by accessibility, flexibility, cost, and stigma. Online therapy platforms, including AI-based tools and teletherapy, offer a promising solution, but challenges such as low engagement, technological barriers, and limited effectiveness for severe cases prevent widespread adoption. This study aims to explore how “Therapy Connect” can improve student mental health support while addressing these challenges.</a:t>
            </a:r>
          </a:p>
          <a:p>
            <a:pPr marL="0" indent="0">
              <a:buNone/>
            </a:pPr>
            <a:endParaRPr lang="en-IN" sz="1600" dirty="0"/>
          </a:p>
        </p:txBody>
      </p:sp>
      <p:cxnSp>
        <p:nvCxnSpPr>
          <p:cNvPr id="5" name="Straight Connector 4">
            <a:extLst>
              <a:ext uri="{FF2B5EF4-FFF2-40B4-BE49-F238E27FC236}">
                <a16:creationId xmlns:a16="http://schemas.microsoft.com/office/drawing/2014/main" id="{DC84C419-6327-343C-C2F3-35BD4CB94FAC}"/>
              </a:ext>
            </a:extLst>
          </p:cNvPr>
          <p:cNvCxnSpPr/>
          <p:nvPr/>
        </p:nvCxnSpPr>
        <p:spPr>
          <a:xfrm>
            <a:off x="0" y="1316736"/>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pPr algn="ctr"/>
            <a:r>
              <a:rPr lang="en-IN" dirty="0"/>
              <a:t>Proposed Solution</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normAutofit fontScale="92500" lnSpcReduction="20000"/>
          </a:bodyPr>
          <a:lstStyle/>
          <a:p>
            <a:pPr marL="457200" indent="-457200">
              <a:buFont typeface="+mj-lt"/>
              <a:buAutoNum type="arabicPeriod"/>
            </a:pPr>
            <a:r>
              <a:rPr lang="en-US" sz="2300" b="1" dirty="0"/>
              <a:t>Integrated Online Platform:</a:t>
            </a:r>
            <a:r>
              <a:rPr lang="en-US" sz="2300" dirty="0"/>
              <a:t> “Therapy Connect” combines AI-driven chatbots, teletherapy sessions, and personalized mindfulness/CBT modules for students.</a:t>
            </a:r>
          </a:p>
          <a:p>
            <a:pPr marL="457200" indent="-457200" algn="just">
              <a:buFont typeface="+mj-lt"/>
              <a:buAutoNum type="arabicPeriod"/>
            </a:pPr>
            <a:r>
              <a:rPr lang="en-US" sz="2300" b="1" dirty="0"/>
              <a:t>AI-Powered Personalization:</a:t>
            </a:r>
            <a:r>
              <a:rPr lang="en-US" sz="2300" dirty="0"/>
              <a:t> Uses machine learning to tailor therapy exercises based on student mood, stress, and engagement patterns.</a:t>
            </a:r>
          </a:p>
          <a:p>
            <a:pPr marL="457200" indent="-457200" algn="just">
              <a:buFont typeface="+mj-lt"/>
              <a:buAutoNum type="arabicPeriod"/>
            </a:pPr>
            <a:r>
              <a:rPr lang="en-US" sz="2300" b="1" dirty="0"/>
              <a:t>Blended Care Approach:</a:t>
            </a:r>
            <a:r>
              <a:rPr lang="en-US" sz="2300" dirty="0"/>
              <a:t> Combines self-help digital tools with live counselor support to increase effectiveness and adherence.</a:t>
            </a:r>
          </a:p>
          <a:p>
            <a:pPr marL="457200" indent="-457200">
              <a:buFont typeface="+mj-lt"/>
              <a:buAutoNum type="arabicPeriod"/>
            </a:pPr>
            <a:r>
              <a:rPr lang="en-US" sz="2300" b="1" dirty="0"/>
              <a:t>24/7 Support via Chatbots:</a:t>
            </a:r>
            <a:r>
              <a:rPr lang="en-US" sz="2300" dirty="0"/>
              <a:t> Provides immediate emotional support and guidance, reducing barriers like stigma and limited counselor availability.</a:t>
            </a:r>
          </a:p>
          <a:p>
            <a:pPr marL="457200" indent="-457200">
              <a:buFont typeface="+mj-lt"/>
              <a:buAutoNum type="arabicPeriod"/>
            </a:pPr>
            <a:r>
              <a:rPr lang="en-US" sz="2300" b="1" dirty="0"/>
              <a:t>Predictive Mental Health Insights:</a:t>
            </a:r>
            <a:r>
              <a:rPr lang="en-US" sz="2300" dirty="0"/>
              <a:t> Detects early signs of stress, anxiety, or depression using AI analytics to enable proactive interventions.</a:t>
            </a:r>
          </a:p>
          <a:p>
            <a:pPr marL="457200" indent="-457200">
              <a:buFont typeface="+mj-lt"/>
              <a:buAutoNum type="arabicPeriod"/>
            </a:pPr>
            <a:r>
              <a:rPr lang="en-US" sz="2300" b="1" dirty="0"/>
              <a:t>Gamified Wellness Modules:</a:t>
            </a:r>
            <a:r>
              <a:rPr lang="en-US" sz="2300" dirty="0"/>
              <a:t> Encourages participation through interactive exercises, progress tracking, and reward systems.</a:t>
            </a:r>
          </a:p>
          <a:p>
            <a:pPr marL="457200" indent="-457200">
              <a:buFont typeface="+mj-lt"/>
              <a:buAutoNum type="arabicPeriod"/>
            </a:pPr>
            <a:r>
              <a:rPr lang="en-US" sz="2300" b="1" dirty="0"/>
              <a:t>Accessibility and Affordability:</a:t>
            </a:r>
            <a:r>
              <a:rPr lang="en-US" sz="2300" dirty="0"/>
              <a:t> Ensures students from diverse backgrounds can access therapy anytime, anywhere, minimizing cost and logistical constraints.</a:t>
            </a:r>
          </a:p>
          <a:p>
            <a:pPr marL="0" indent="0">
              <a:buNone/>
            </a:pPr>
            <a:endParaRPr lang="en-IN" sz="2100" dirty="0"/>
          </a:p>
        </p:txBody>
      </p:sp>
      <p:cxnSp>
        <p:nvCxnSpPr>
          <p:cNvPr id="5" name="Straight Connector 4">
            <a:extLst>
              <a:ext uri="{FF2B5EF4-FFF2-40B4-BE49-F238E27FC236}">
                <a16:creationId xmlns:a16="http://schemas.microsoft.com/office/drawing/2014/main" id="{C2B222CD-DBCC-7F8C-9F81-DEEBBC34769D}"/>
              </a:ext>
            </a:extLst>
          </p:cNvPr>
          <p:cNvCxnSpPr/>
          <p:nvPr/>
        </p:nvCxnSpPr>
        <p:spPr>
          <a:xfrm>
            <a:off x="0" y="1335024"/>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772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pPr algn="ctr"/>
            <a:r>
              <a:rPr lang="en-IN" dirty="0"/>
              <a:t>Objectives</a:t>
            </a:r>
          </a:p>
        </p:txBody>
      </p:sp>
      <p:cxnSp>
        <p:nvCxnSpPr>
          <p:cNvPr id="5" name="Straight Connector 4">
            <a:extLst>
              <a:ext uri="{FF2B5EF4-FFF2-40B4-BE49-F238E27FC236}">
                <a16:creationId xmlns:a16="http://schemas.microsoft.com/office/drawing/2014/main" id="{E931B978-5AC7-FD77-6D68-8B48024CF46B}"/>
              </a:ext>
            </a:extLst>
          </p:cNvPr>
          <p:cNvCxnSpPr/>
          <p:nvPr/>
        </p:nvCxnSpPr>
        <p:spPr>
          <a:xfrm>
            <a:off x="0" y="132588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1">
            <a:extLst>
              <a:ext uri="{FF2B5EF4-FFF2-40B4-BE49-F238E27FC236}">
                <a16:creationId xmlns:a16="http://schemas.microsoft.com/office/drawing/2014/main" id="{803436E0-278F-2031-B67E-658271AC741E}"/>
              </a:ext>
            </a:extLst>
          </p:cNvPr>
          <p:cNvSpPr>
            <a:spLocks noGrp="1" noChangeArrowheads="1"/>
          </p:cNvSpPr>
          <p:nvPr>
            <p:ph idx="1"/>
          </p:nvPr>
        </p:nvSpPr>
        <p:spPr bwMode="auto">
          <a:xfrm>
            <a:off x="838200" y="1830675"/>
            <a:ext cx="1078382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t>
            </a:r>
            <a:r>
              <a:rPr kumimoji="0" lang="en-US" altLang="en-US" sz="1800" b="1" i="0" u="none" strike="noStrike" cap="none" normalizeH="0" baseline="0" dirty="0">
                <a:ln>
                  <a:noFill/>
                </a:ln>
                <a:solidFill>
                  <a:schemeClr val="tx1"/>
                </a:solidFill>
                <a:effectLst/>
                <a:latin typeface="Arial" panose="020B0604020202020204" pitchFamily="34" charset="0"/>
              </a:rPr>
              <a:t>provide accessible and effective mental health support</a:t>
            </a:r>
            <a:r>
              <a:rPr kumimoji="0" lang="en-US" altLang="en-US" sz="1800" b="0" i="0" u="none" strike="noStrike" cap="none" normalizeH="0" baseline="0" dirty="0">
                <a:ln>
                  <a:noFill/>
                </a:ln>
                <a:solidFill>
                  <a:schemeClr val="tx1"/>
                </a:solidFill>
                <a:effectLst/>
                <a:latin typeface="Arial" panose="020B0604020202020204" pitchFamily="34" charset="0"/>
              </a:rPr>
              <a:t> to students through an online therapy platform.</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t>
            </a:r>
            <a:r>
              <a:rPr kumimoji="0" lang="en-US" altLang="en-US" sz="1800" b="1" i="0" u="none" strike="noStrike" cap="none" normalizeH="0" baseline="0" dirty="0">
                <a:ln>
                  <a:noFill/>
                </a:ln>
                <a:solidFill>
                  <a:schemeClr val="tx1"/>
                </a:solidFill>
                <a:effectLst/>
                <a:latin typeface="Arial" panose="020B0604020202020204" pitchFamily="34" charset="0"/>
              </a:rPr>
              <a:t>reduce stress, anxiety, and depression</a:t>
            </a:r>
            <a:r>
              <a:rPr kumimoji="0" lang="en-US" altLang="en-US" sz="1800" b="0" i="0" u="none" strike="noStrike" cap="none" normalizeH="0" baseline="0" dirty="0">
                <a:ln>
                  <a:noFill/>
                </a:ln>
                <a:solidFill>
                  <a:schemeClr val="tx1"/>
                </a:solidFill>
                <a:effectLst/>
                <a:latin typeface="Arial" panose="020B0604020202020204" pitchFamily="34" charset="0"/>
              </a:rPr>
              <a:t> among students using AI-driven tools and teletherapy.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t>
            </a:r>
            <a:r>
              <a:rPr kumimoji="0" lang="en-US" altLang="en-US" sz="1800" b="1" i="0" u="none" strike="noStrike" cap="none" normalizeH="0" baseline="0" dirty="0">
                <a:ln>
                  <a:noFill/>
                </a:ln>
                <a:solidFill>
                  <a:schemeClr val="tx1"/>
                </a:solidFill>
                <a:effectLst/>
                <a:latin typeface="Arial" panose="020B0604020202020204" pitchFamily="34" charset="0"/>
              </a:rPr>
              <a:t>personalize therapy interventions</a:t>
            </a:r>
            <a:r>
              <a:rPr kumimoji="0" lang="en-US" altLang="en-US" sz="1800" b="0" i="0" u="none" strike="noStrike" cap="none" normalizeH="0" baseline="0" dirty="0">
                <a:ln>
                  <a:noFill/>
                </a:ln>
                <a:solidFill>
                  <a:schemeClr val="tx1"/>
                </a:solidFill>
                <a:effectLst/>
                <a:latin typeface="Arial" panose="020B0604020202020204" pitchFamily="34" charset="0"/>
              </a:rPr>
              <a:t> based on students’ emotional state, engagement, and needs.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t>
            </a:r>
            <a:r>
              <a:rPr kumimoji="0" lang="en-US" altLang="en-US" sz="1800" b="1" i="0" u="none" strike="noStrike" cap="none" normalizeH="0" baseline="0" dirty="0">
                <a:ln>
                  <a:noFill/>
                </a:ln>
                <a:solidFill>
                  <a:schemeClr val="tx1"/>
                </a:solidFill>
                <a:effectLst/>
                <a:latin typeface="Arial" panose="020B0604020202020204" pitchFamily="34" charset="0"/>
              </a:rPr>
              <a:t>enhance student engagement and adherence</a:t>
            </a:r>
            <a:r>
              <a:rPr kumimoji="0" lang="en-US" altLang="en-US" sz="1800" b="0" i="0" u="none" strike="noStrike" cap="none" normalizeH="0" baseline="0" dirty="0">
                <a:ln>
                  <a:noFill/>
                </a:ln>
                <a:solidFill>
                  <a:schemeClr val="tx1"/>
                </a:solidFill>
                <a:effectLst/>
                <a:latin typeface="Arial" panose="020B0604020202020204" pitchFamily="34" charset="0"/>
              </a:rPr>
              <a:t> through gamified wellness modules and blended care.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t>
            </a:r>
            <a:r>
              <a:rPr kumimoji="0" lang="en-US" altLang="en-US" sz="1800" b="1" i="0" u="none" strike="noStrike" cap="none" normalizeH="0" baseline="0" dirty="0">
                <a:ln>
                  <a:noFill/>
                </a:ln>
                <a:solidFill>
                  <a:schemeClr val="tx1"/>
                </a:solidFill>
                <a:effectLst/>
                <a:latin typeface="Arial" panose="020B0604020202020204" pitchFamily="34" charset="0"/>
              </a:rPr>
              <a:t>detect early signs of mental health issues</a:t>
            </a:r>
            <a:r>
              <a:rPr kumimoji="0" lang="en-US" altLang="en-US" sz="1800" b="0" i="0" u="none" strike="noStrike" cap="none" normalizeH="0" baseline="0" dirty="0">
                <a:ln>
                  <a:noFill/>
                </a:ln>
                <a:solidFill>
                  <a:schemeClr val="tx1"/>
                </a:solidFill>
                <a:effectLst/>
                <a:latin typeface="Arial" panose="020B0604020202020204" pitchFamily="34" charset="0"/>
              </a:rPr>
              <a:t> and offer proactive interventions for better emotional wellbeing.</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709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9112-39C5-3861-BAC2-3210F09C7B1E}"/>
              </a:ext>
            </a:extLst>
          </p:cNvPr>
          <p:cNvSpPr>
            <a:spLocks noGrp="1"/>
          </p:cNvSpPr>
          <p:nvPr>
            <p:ph type="title"/>
          </p:nvPr>
        </p:nvSpPr>
        <p:spPr/>
        <p:txBody>
          <a:bodyPr/>
          <a:lstStyle/>
          <a:p>
            <a:r>
              <a:rPr lang="en-IN" dirty="0"/>
              <a:t>                                  Result :</a:t>
            </a:r>
          </a:p>
        </p:txBody>
      </p:sp>
      <p:sp>
        <p:nvSpPr>
          <p:cNvPr id="3" name="Content Placeholder 2">
            <a:extLst>
              <a:ext uri="{FF2B5EF4-FFF2-40B4-BE49-F238E27FC236}">
                <a16:creationId xmlns:a16="http://schemas.microsoft.com/office/drawing/2014/main" id="{15875088-EA10-7769-41BD-8579706238A3}"/>
              </a:ext>
            </a:extLst>
          </p:cNvPr>
          <p:cNvSpPr>
            <a:spLocks noGrp="1"/>
          </p:cNvSpPr>
          <p:nvPr>
            <p:ph idx="1"/>
          </p:nvPr>
        </p:nvSpPr>
        <p:spPr/>
        <p:txBody>
          <a:bodyPr>
            <a:normAutofit/>
          </a:bodyPr>
          <a:lstStyle/>
          <a:p>
            <a:pPr marL="0" indent="0">
              <a:buNone/>
            </a:pPr>
            <a:r>
              <a:rPr lang="en-IN" dirty="0"/>
              <a:t>1. </a:t>
            </a:r>
            <a:r>
              <a:rPr lang="en-US" sz="2200" dirty="0"/>
              <a:t>The Therapy Connect website was successfully developed and executed.</a:t>
            </a:r>
          </a:p>
          <a:p>
            <a:pPr marL="0" indent="0">
              <a:buNone/>
            </a:pPr>
            <a:r>
              <a:rPr lang="en-US" sz="2200" dirty="0"/>
              <a:t>2. The system provides a user-friendly and emotionally supportive interface for students.</a:t>
            </a:r>
          </a:p>
          <a:p>
            <a:pPr marL="0" indent="0">
              <a:buNone/>
            </a:pPr>
            <a:r>
              <a:rPr lang="en-US" sz="2200" dirty="0"/>
              <a:t>3. The chatbot responds appropriately based on:</a:t>
            </a:r>
          </a:p>
          <a:p>
            <a:pPr lvl="1"/>
            <a:r>
              <a:rPr lang="en-US" sz="2200" dirty="0"/>
              <a:t>User text input</a:t>
            </a:r>
          </a:p>
          <a:p>
            <a:pPr lvl="1"/>
            <a:r>
              <a:rPr lang="en-US" sz="2200" dirty="0"/>
              <a:t>Selected emotional state</a:t>
            </a:r>
          </a:p>
          <a:p>
            <a:pPr lvl="1"/>
            <a:r>
              <a:rPr lang="en-US" sz="2200" dirty="0"/>
              <a:t>Facial emotion detection (demo feature)</a:t>
            </a:r>
          </a:p>
          <a:p>
            <a:pPr marL="0" indent="0">
              <a:buNone/>
            </a:pPr>
            <a:r>
              <a:rPr lang="en-US" sz="2200" dirty="0"/>
              <a:t>4. Real-time interaction enhances student engagement and comfort.</a:t>
            </a:r>
          </a:p>
          <a:p>
            <a:pPr marL="0" indent="0">
              <a:buNone/>
            </a:pPr>
            <a:r>
              <a:rPr lang="en-US" sz="2200" dirty="0"/>
              <a:t>5.The project demonstrates the practical use of technology in mental health support</a:t>
            </a:r>
          </a:p>
        </p:txBody>
      </p:sp>
      <p:cxnSp>
        <p:nvCxnSpPr>
          <p:cNvPr id="5" name="Straight Connector 4">
            <a:extLst>
              <a:ext uri="{FF2B5EF4-FFF2-40B4-BE49-F238E27FC236}">
                <a16:creationId xmlns:a16="http://schemas.microsoft.com/office/drawing/2014/main" id="{EDEC7963-83BF-7983-0014-E6B7DA914EE3}"/>
              </a:ext>
            </a:extLst>
          </p:cNvPr>
          <p:cNvCxnSpPr>
            <a:cxnSpLocks/>
          </p:cNvCxnSpPr>
          <p:nvPr/>
        </p:nvCxnSpPr>
        <p:spPr>
          <a:xfrm>
            <a:off x="0" y="1316736"/>
            <a:ext cx="1211884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6598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pPr algn="ctr"/>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normAutofit fontScale="92500" lnSpcReduction="10000"/>
          </a:bodyPr>
          <a:lstStyle/>
          <a:p>
            <a:pPr marL="514350" indent="-514350">
              <a:buFont typeface="+mj-lt"/>
              <a:buAutoNum type="arabicPeriod"/>
            </a:pPr>
            <a:r>
              <a:rPr lang="en-US" sz="1900" dirty="0"/>
              <a:t>Fischer-Grote, L. (2024). </a:t>
            </a:r>
            <a:r>
              <a:rPr lang="en-US" sz="1900" i="1" dirty="0"/>
              <a:t>Effectiveness of Online and Remote Interventions for Student Mental Health.</a:t>
            </a:r>
            <a:r>
              <a:rPr lang="en-US" sz="1900" dirty="0"/>
              <a:t> PMC. </a:t>
            </a:r>
            <a:r>
              <a:rPr lang="en-US" sz="1900" dirty="0">
                <a:hlinkClick r:id="rId2"/>
              </a:rPr>
              <a:t>https://www.ncbi.nlm.nih.gov/pmc/articles/PMC10877489/</a:t>
            </a:r>
            <a:r>
              <a:rPr lang="en-US" sz="1900" dirty="0"/>
              <a:t> </a:t>
            </a:r>
          </a:p>
          <a:p>
            <a:pPr marL="514350" indent="-514350">
              <a:buFont typeface="+mj-lt"/>
              <a:buAutoNum type="arabicPeriod"/>
            </a:pPr>
            <a:r>
              <a:rPr lang="en-US" sz="1900" dirty="0"/>
              <a:t>Reyes-Portillo, J. A. (2025). </a:t>
            </a:r>
            <a:r>
              <a:rPr lang="en-US" sz="1900" i="1" dirty="0"/>
              <a:t>Generative AI–Powered Mental Wellness Chatbot for College Students.</a:t>
            </a:r>
            <a:r>
              <a:rPr lang="en-US" sz="1900" dirty="0"/>
              <a:t> JMIR Formative Research. </a:t>
            </a:r>
            <a:r>
              <a:rPr lang="en-US" sz="1900" dirty="0">
                <a:hlinkClick r:id="rId3"/>
              </a:rPr>
              <a:t>https://formative.jmir.org/2025/1/e71923</a:t>
            </a:r>
            <a:endParaRPr lang="en-US" sz="1900" dirty="0"/>
          </a:p>
          <a:p>
            <a:pPr marL="514350" indent="-514350" algn="just">
              <a:buFont typeface="+mj-lt"/>
              <a:buAutoNum type="arabicPeriod"/>
            </a:pPr>
            <a:r>
              <a:rPr lang="en-US" sz="1900" dirty="0"/>
              <a:t>Cheng, C. (2023). </a:t>
            </a:r>
            <a:r>
              <a:rPr lang="en-US" sz="1900" i="1" dirty="0"/>
              <a:t>Gamification: a Novel Approach to Mental Health Promotion.</a:t>
            </a:r>
            <a:r>
              <a:rPr lang="en-US" sz="1900" dirty="0"/>
              <a:t> PMC. https://www.ncbi.nlm.nih.gov/pmc/articles/PMC10654169/</a:t>
            </a:r>
          </a:p>
          <a:p>
            <a:pPr marL="514350" indent="-514350">
              <a:buFont typeface="+mj-lt"/>
              <a:buAutoNum type="arabicPeriod"/>
            </a:pPr>
            <a:r>
              <a:rPr lang="en-US" sz="1900" dirty="0"/>
              <a:t>Lattie, E. G. (2022). </a:t>
            </a:r>
            <a:r>
              <a:rPr lang="en-US" sz="1900" i="1" dirty="0"/>
              <a:t>Uptake and Effectiveness of a Self-Guided Mobile App for College Students.</a:t>
            </a:r>
            <a:r>
              <a:rPr lang="en-US" sz="1900" dirty="0"/>
              <a:t> ScienceDirect. </a:t>
            </a:r>
            <a:r>
              <a:rPr lang="en-US" sz="1900" dirty="0">
                <a:hlinkClick r:id="rId4"/>
              </a:rPr>
              <a:t>https://www.sciencedirect.com/science/article/pii/S2214782921001330</a:t>
            </a:r>
            <a:endParaRPr lang="en-US" sz="1900" dirty="0"/>
          </a:p>
          <a:p>
            <a:pPr marL="514350" indent="-514350">
              <a:buFont typeface="+mj-lt"/>
              <a:buAutoNum type="arabicPeriod"/>
            </a:pPr>
            <a:r>
              <a:rPr lang="en-US" sz="1900" dirty="0" err="1"/>
              <a:t>Ollio</a:t>
            </a:r>
            <a:r>
              <a:rPr lang="en-US" sz="1900" dirty="0"/>
              <a:t>, J. (2022). </a:t>
            </a:r>
            <a:r>
              <a:rPr lang="en-US" sz="1900" i="1" dirty="0"/>
              <a:t>Using Telehealth to Provide Behavioral Healthcare.</a:t>
            </a:r>
            <a:r>
              <a:rPr lang="en-US" sz="1900" dirty="0"/>
              <a:t> PMC. https://www.ncbi.nlm.nih.gov/pmc/articles/PMC9013217/</a:t>
            </a:r>
          </a:p>
          <a:p>
            <a:pPr marL="514350" indent="-514350">
              <a:buFont typeface="+mj-lt"/>
              <a:buAutoNum type="arabicPeriod"/>
            </a:pPr>
            <a:r>
              <a:rPr lang="en-US" sz="1900" dirty="0"/>
              <a:t>CBSE (2023). </a:t>
            </a:r>
            <a:r>
              <a:rPr lang="en-US" sz="1900" i="1" dirty="0"/>
              <a:t>For Students' Mental Health, CBSE Pushes Tele-MANAS Scheme.</a:t>
            </a:r>
            <a:r>
              <a:rPr lang="en-US" sz="1900" dirty="0"/>
              <a:t> Times of India. </a:t>
            </a:r>
            <a:r>
              <a:rPr lang="en-US" sz="1900" dirty="0">
                <a:hlinkClick r:id="rId5"/>
              </a:rPr>
              <a:t>https://timesofindia.indiatimes.com/city/nagpur/for-students-mental-health-cbse-pushestele-manas-scheme/articleshow/123551705.cms</a:t>
            </a:r>
            <a:endParaRPr lang="en-US" sz="1900" dirty="0"/>
          </a:p>
          <a:p>
            <a:pPr marL="514350" indent="-514350">
              <a:buFont typeface="+mj-lt"/>
              <a:buAutoNum type="arabicPeriod"/>
            </a:pPr>
            <a:r>
              <a:rPr lang="en-US" sz="1900" dirty="0"/>
              <a:t>Andersson, G. (2018). </a:t>
            </a:r>
            <a:r>
              <a:rPr lang="en-US" sz="1900" i="1" dirty="0"/>
              <a:t>Internet-based Cognitive Behavioral Therapy for Students: A Review of Evidence.</a:t>
            </a:r>
            <a:r>
              <a:rPr lang="en-US" sz="1900" dirty="0"/>
              <a:t> Journal of Medical Internet Research.</a:t>
            </a:r>
          </a:p>
          <a:p>
            <a:pPr marL="514350" indent="-514350">
              <a:buFont typeface="+mj-lt"/>
              <a:buAutoNum type="arabicPeriod"/>
            </a:pPr>
            <a:endParaRPr lang="en-IN" dirty="0"/>
          </a:p>
        </p:txBody>
      </p:sp>
      <p:cxnSp>
        <p:nvCxnSpPr>
          <p:cNvPr id="5" name="Straight Connector 4">
            <a:extLst>
              <a:ext uri="{FF2B5EF4-FFF2-40B4-BE49-F238E27FC236}">
                <a16:creationId xmlns:a16="http://schemas.microsoft.com/office/drawing/2014/main" id="{70946457-0238-01E3-1AB1-173F9DCFAC03}"/>
              </a:ext>
            </a:extLst>
          </p:cNvPr>
          <p:cNvCxnSpPr/>
          <p:nvPr/>
        </p:nvCxnSpPr>
        <p:spPr>
          <a:xfrm>
            <a:off x="0" y="1298448"/>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491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384C49-40B5-E8BE-3885-D6E34229C5A0}"/>
              </a:ext>
            </a:extLst>
          </p:cNvPr>
          <p:cNvPicPr>
            <a:picLocks noChangeAspect="1"/>
          </p:cNvPicPr>
          <p:nvPr/>
        </p:nvPicPr>
        <p:blipFill>
          <a:blip r:embed="rId2"/>
          <a:stretch>
            <a:fillRect/>
          </a:stretch>
        </p:blipFill>
        <p:spPr>
          <a:xfrm>
            <a:off x="146304" y="155448"/>
            <a:ext cx="5949696" cy="6519672"/>
          </a:xfrm>
          <a:prstGeom prst="rect">
            <a:avLst/>
          </a:prstGeom>
        </p:spPr>
      </p:pic>
      <p:pic>
        <p:nvPicPr>
          <p:cNvPr id="5" name="Picture 4">
            <a:extLst>
              <a:ext uri="{FF2B5EF4-FFF2-40B4-BE49-F238E27FC236}">
                <a16:creationId xmlns:a16="http://schemas.microsoft.com/office/drawing/2014/main" id="{3E5262FB-5070-8F5D-B01D-DED28647A118}"/>
              </a:ext>
            </a:extLst>
          </p:cNvPr>
          <p:cNvPicPr>
            <a:picLocks noChangeAspect="1"/>
          </p:cNvPicPr>
          <p:nvPr/>
        </p:nvPicPr>
        <p:blipFill>
          <a:blip r:embed="rId3"/>
          <a:stretch>
            <a:fillRect/>
          </a:stretch>
        </p:blipFill>
        <p:spPr>
          <a:xfrm>
            <a:off x="6291071" y="155448"/>
            <a:ext cx="5016339" cy="3084480"/>
          </a:xfrm>
          <a:prstGeom prst="rect">
            <a:avLst/>
          </a:prstGeom>
        </p:spPr>
      </p:pic>
      <p:pic>
        <p:nvPicPr>
          <p:cNvPr id="7" name="Picture 6">
            <a:extLst>
              <a:ext uri="{FF2B5EF4-FFF2-40B4-BE49-F238E27FC236}">
                <a16:creationId xmlns:a16="http://schemas.microsoft.com/office/drawing/2014/main" id="{E7C75DFF-05EB-39E9-0E6E-B100F78C8165}"/>
              </a:ext>
            </a:extLst>
          </p:cNvPr>
          <p:cNvPicPr>
            <a:picLocks noChangeAspect="1"/>
          </p:cNvPicPr>
          <p:nvPr/>
        </p:nvPicPr>
        <p:blipFill>
          <a:blip r:embed="rId4"/>
          <a:stretch>
            <a:fillRect/>
          </a:stretch>
        </p:blipFill>
        <p:spPr>
          <a:xfrm>
            <a:off x="6291071" y="3344165"/>
            <a:ext cx="5016339" cy="3330955"/>
          </a:xfrm>
          <a:prstGeom prst="rect">
            <a:avLst/>
          </a:prstGeom>
        </p:spPr>
      </p:pic>
    </p:spTree>
    <p:extLst>
      <p:ext uri="{BB962C8B-B14F-4D97-AF65-F5344CB8AC3E}">
        <p14:creationId xmlns:p14="http://schemas.microsoft.com/office/powerpoint/2010/main" val="3603555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9869424" cy="1325563"/>
          </a:xfrm>
        </p:spPr>
        <p:txBody>
          <a:bodyPr/>
          <a:lstStyle/>
          <a:p>
            <a:pPr algn="ctr"/>
            <a:r>
              <a:rPr lang="en-IN" dirty="0"/>
              <a:t>       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6761</TotalTime>
  <Words>1055</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Wingdings</vt:lpstr>
      <vt:lpstr>Office Theme</vt:lpstr>
      <vt:lpstr>THERAPY CONNECT</vt:lpstr>
      <vt:lpstr>Outline</vt:lpstr>
      <vt:lpstr>Introduction</vt:lpstr>
      <vt:lpstr>                                   Literature Review I This table shows that online therapy for students reduces stress and anxiety but faces challenges like engagement, tech barriers, and limits for severe cases. </vt:lpstr>
      <vt:lpstr>                           Literature Review-II</vt:lpstr>
      <vt:lpstr>Problem Statement</vt:lpstr>
      <vt:lpstr>Proposed Solution</vt:lpstr>
      <vt:lpstr>Objectives</vt:lpstr>
      <vt:lpstr>                                  Result :</vt:lpstr>
      <vt:lpstr>References</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shrutijha9660@outlook.com</cp:lastModifiedBy>
  <cp:revision>7</cp:revision>
  <dcterms:created xsi:type="dcterms:W3CDTF">2025-09-29T05:03:41Z</dcterms:created>
  <dcterms:modified xsi:type="dcterms:W3CDTF">2026-02-18T13:50:28Z</dcterms:modified>
</cp:coreProperties>
</file>